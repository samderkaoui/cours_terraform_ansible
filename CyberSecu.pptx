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74" r:id="rId3"/>
    <p:sldMasterId id="214748367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/>
  <p:notesSz cx="7559675" cy="10691813"/>
  <p:embeddedFontLst>
    <p:embeddedFont>
      <p:font typeface="DM Sans"/>
    </p:embeddedFont>
    <p:embeddedFont>
      <p:font typeface="Viga"/>
      <p:regular r:id="rId26"/>
    </p:embeddedFont>
    <p:embeddedFont>
      <p:font typeface="Microsoft YaHei"/>
    </p:embeddedFont>
    <p:embeddedFont>
      <p:font typeface="Segoe UI"/>
      <p:regular r:id="rId27"/>
      <p:bold r:id="rId28"/>
      <p:italic r:id="rId29"/>
      <p:boldItalic r:id="rId30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6.xml"/><Relationship Id="rId4" Type="http://schemas.openxmlformats.org/officeDocument/2006/relationships/slideMaster" Target="slideMasters/slideMaster2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font" Target="fonts/Font_1_Viga_Regular.fntdata"/><Relationship Id="rId27" Type="http://schemas.openxmlformats.org/officeDocument/2006/relationships/font" Target="fonts/Font_2_Segoe_UI_Regular.fntdata"/><Relationship Id="rId28" Type="http://schemas.openxmlformats.org/officeDocument/2006/relationships/font" Target="fonts/Font_3_Segoe_UI_Bold.fntdata"/><Relationship Id="rId29" Type="http://schemas.openxmlformats.org/officeDocument/2006/relationships/font" Target="fonts/Font_4_Segoe_UI_Italic.fntdata"/><Relationship Id="rId30" Type="http://schemas.openxmlformats.org/officeDocument/2006/relationships/font" Target="fonts/Font_5_Segoe_UI_BoldItalic.fntdata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74;p16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316120" y="3450240"/>
            <a:ext cx="262692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5316120" y="2952360"/>
            <a:ext cx="262692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1199160" y="3450240"/>
            <a:ext cx="262692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1199160" y="2952360"/>
            <a:ext cx="262692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_1_1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81;p17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465000" y="3508200"/>
            <a:ext cx="22122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3465000" y="301032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835200" y="3508200"/>
            <a:ext cx="22122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835200" y="301032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body"/>
          </p:nvPr>
        </p:nvSpPr>
        <p:spPr>
          <a:xfrm>
            <a:off x="6094800" y="3508200"/>
            <a:ext cx="22122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6094800" y="301032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71040" y="-101520"/>
            <a:ext cx="3965760" cy="167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45;p25"/>
          <p:cNvSpPr/>
          <p:nvPr/>
        </p:nvSpPr>
        <p:spPr>
          <a:xfrm>
            <a:off x="671040" y="3275640"/>
            <a:ext cx="338580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lang="en" sz="1100" b="0" u="none" strike="noStrike">
                <a:solidFill>
                  <a:schemeClr val="lt2"/>
                </a:solidFill>
                <a:effectLst/>
                <a:uFillTx/>
                <a:latin typeface="DM Sans"/>
                <a:ea typeface="DM Sans"/>
              </a:rPr>
              <a:t>CREDITS: This presentation template was created by </a:t>
            </a:r>
            <a:r>
              <a:rPr lang="en" sz="1100" b="1" u="sng" strike="noStrike">
                <a:solidFill>
                  <a:schemeClr val="lt2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lt2"/>
                </a:solidFill>
                <a:effectLst/>
                <a:uFillTx/>
                <a:latin typeface="DM Sans"/>
                <a:ea typeface="DM Sans"/>
              </a:rPr>
              <a:t>, including icons by </a:t>
            </a:r>
            <a:r>
              <a:rPr lang="en" sz="1100" b="1" u="sng" strike="noStrike">
                <a:solidFill>
                  <a:schemeClr val="lt2"/>
                </a:solidFill>
                <a:effectLst/>
                <a:uFillTx/>
                <a:latin typeface="DM Sans"/>
                <a:ea typeface="DM Sans"/>
                <a:hlinkClick r:id="rId3"/>
              </a:rPr>
              <a:t>Flaticon</a:t>
            </a:r>
            <a:r>
              <a:rPr lang="en" sz="1100" b="0" u="none" strike="noStrike">
                <a:solidFill>
                  <a:schemeClr val="lt2"/>
                </a:solidFill>
                <a:effectLst/>
                <a:uFillTx/>
                <a:latin typeface="DM Sans"/>
                <a:ea typeface="DM Sans"/>
              </a:rPr>
              <a:t>, infographics &amp; images by </a:t>
            </a:r>
            <a:r>
              <a:rPr lang="en" sz="1100" b="1" u="sng" strike="noStrike">
                <a:solidFill>
                  <a:schemeClr val="lt2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r>
              <a:rPr lang="en" sz="1100" b="0" u="none" strike="noStrike">
                <a:solidFill>
                  <a:schemeClr val="lt2"/>
                </a:solidFill>
                <a:effectLst/>
                <a:uFillTx/>
                <a:latin typeface="DM Sans"/>
                <a:ea typeface="DM Sans"/>
              </a:rPr>
              <a:t> and illustrations by </a:t>
            </a:r>
            <a:r>
              <a:rPr lang="en" sz="1100" b="0" u="sng" strike="noStrike">
                <a:solidFill>
                  <a:schemeClr val="hlink"/>
                </a:solidFill>
                <a:effectLst/>
                <a:uFillTx/>
                <a:latin typeface="DM Sans"/>
                <a:ea typeface="DM Sans"/>
                <a:hlinkClick r:id="rId5"/>
              </a:rPr>
              <a:t>Stories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288320" y="1459080"/>
            <a:ext cx="3965760" cy="167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5598000" y="792360"/>
            <a:ext cx="265608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101;p20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</a:ln>
        </p:spPr>
      </p:cxn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6240" y="1459080"/>
            <a:ext cx="4557240" cy="167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876240" y="792360"/>
            <a:ext cx="265608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_1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104;p21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010160" y="3819240"/>
            <a:ext cx="1476720" cy="73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1010160" y="3321360"/>
            <a:ext cx="147672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891880" y="3819240"/>
            <a:ext cx="1476720" cy="73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title"/>
          </p:nvPr>
        </p:nvSpPr>
        <p:spPr>
          <a:xfrm>
            <a:off x="2891880" y="3321360"/>
            <a:ext cx="147672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4773600" y="3819240"/>
            <a:ext cx="1476720" cy="73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title"/>
          </p:nvPr>
        </p:nvSpPr>
        <p:spPr>
          <a:xfrm>
            <a:off x="4773600" y="3321360"/>
            <a:ext cx="147672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8"/>
          <p:cNvSpPr>
            <a:spLocks noGrp="1"/>
          </p:cNvSpPr>
          <p:nvPr>
            <p:ph type="body"/>
          </p:nvPr>
        </p:nvSpPr>
        <p:spPr>
          <a:xfrm>
            <a:off x="6655680" y="3819240"/>
            <a:ext cx="1476720" cy="73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9"/>
          <p:cNvSpPr>
            <a:spLocks noGrp="1"/>
          </p:cNvSpPr>
          <p:nvPr>
            <p:ph type="title"/>
          </p:nvPr>
        </p:nvSpPr>
        <p:spPr>
          <a:xfrm>
            <a:off x="6655680" y="3321360"/>
            <a:ext cx="147672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_1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588400" y="1459080"/>
            <a:ext cx="3965760" cy="167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3243240" y="792360"/>
            <a:ext cx="265608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_1_1_1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119;p23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</a:ln>
        </p:spPr>
      </p:cxn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465000" y="1971360"/>
            <a:ext cx="221220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3465000" y="147348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835200" y="1971360"/>
            <a:ext cx="221220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title"/>
          </p:nvPr>
        </p:nvSpPr>
        <p:spPr>
          <a:xfrm>
            <a:off x="835200" y="147348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6094800" y="1971360"/>
            <a:ext cx="221220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title"/>
          </p:nvPr>
        </p:nvSpPr>
        <p:spPr>
          <a:xfrm>
            <a:off x="6094800" y="147348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body"/>
          </p:nvPr>
        </p:nvSpPr>
        <p:spPr>
          <a:xfrm>
            <a:off x="3465000" y="3882960"/>
            <a:ext cx="221220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9"/>
          <p:cNvSpPr>
            <a:spLocks noGrp="1"/>
          </p:cNvSpPr>
          <p:nvPr>
            <p:ph type="title"/>
          </p:nvPr>
        </p:nvSpPr>
        <p:spPr>
          <a:xfrm>
            <a:off x="3465000" y="338508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0"/>
          <p:cNvSpPr>
            <a:spLocks noGrp="1"/>
          </p:cNvSpPr>
          <p:nvPr>
            <p:ph type="body"/>
          </p:nvPr>
        </p:nvSpPr>
        <p:spPr>
          <a:xfrm>
            <a:off x="835200" y="3882960"/>
            <a:ext cx="221220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1"/>
          <p:cNvSpPr>
            <a:spLocks noGrp="1"/>
          </p:cNvSpPr>
          <p:nvPr>
            <p:ph type="title"/>
          </p:nvPr>
        </p:nvSpPr>
        <p:spPr>
          <a:xfrm>
            <a:off x="835200" y="338508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2"/>
          <p:cNvSpPr>
            <a:spLocks noGrp="1"/>
          </p:cNvSpPr>
          <p:nvPr>
            <p:ph type="body"/>
          </p:nvPr>
        </p:nvSpPr>
        <p:spPr>
          <a:xfrm>
            <a:off x="6094800" y="3882960"/>
            <a:ext cx="221220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3"/>
          <p:cNvSpPr>
            <a:spLocks noGrp="1"/>
          </p:cNvSpPr>
          <p:nvPr>
            <p:ph type="title"/>
          </p:nvPr>
        </p:nvSpPr>
        <p:spPr>
          <a:xfrm>
            <a:off x="6094800" y="338508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_1_1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134;p24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465000" y="3508200"/>
            <a:ext cx="22122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title"/>
          </p:nvPr>
        </p:nvSpPr>
        <p:spPr>
          <a:xfrm>
            <a:off x="3465000" y="301032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835200" y="3508200"/>
            <a:ext cx="22122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title"/>
          </p:nvPr>
        </p:nvSpPr>
        <p:spPr>
          <a:xfrm>
            <a:off x="835200" y="301032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body"/>
          </p:nvPr>
        </p:nvSpPr>
        <p:spPr>
          <a:xfrm>
            <a:off x="6094800" y="3508200"/>
            <a:ext cx="221220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title"/>
          </p:nvPr>
        </p:nvSpPr>
        <p:spPr>
          <a:xfrm>
            <a:off x="6094800" y="3010320"/>
            <a:ext cx="221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body"/>
          </p:nvPr>
        </p:nvSpPr>
        <p:spPr>
          <a:xfrm>
            <a:off x="626760" y="2266920"/>
            <a:ext cx="2924280" cy="23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Google Shape;36;p9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722520" y="1335600"/>
            <a:ext cx="3612240" cy="32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Google Shape;148;p26"/>
          <p:cNvCxnSpPr/>
          <p:nvPr/>
        </p:nvCxnSpPr>
        <p:spPr>
          <a:xfrm>
            <a:off x="394920" y="760320"/>
            <a:ext cx="898992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</a:ln>
        </p:spPr>
      </p:cxn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779040" y="49068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974480" y="527400"/>
            <a:ext cx="3767760" cy="291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626760" y="878040"/>
            <a:ext cx="7320600" cy="326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Google Shape;17;p4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body"/>
          </p:nvPr>
        </p:nvSpPr>
        <p:spPr>
          <a:xfrm>
            <a:off x="722520" y="1335600"/>
            <a:ext cx="3612240" cy="32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807440" y="1335600"/>
            <a:ext cx="3612240" cy="32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Google Shape;22;p5"/>
          <p:cNvCxnSpPr/>
          <p:nvPr/>
        </p:nvCxnSpPr>
        <p:spPr>
          <a:xfrm>
            <a:off x="394920" y="760320"/>
            <a:ext cx="898992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</a:ln>
        </p:spPr>
      </p:cxnSp>
      <p:sp>
        <p:nvSpPr>
          <p:cNvPr id="77" name="PlaceHolder 3"/>
          <p:cNvSpPr>
            <a:spLocks noGrp="1"/>
          </p:cNvSpPr>
          <p:nvPr>
            <p:ph type="title"/>
          </p:nvPr>
        </p:nvSpPr>
        <p:spPr>
          <a:xfrm>
            <a:off x="779040" y="49068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25;p6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28;p7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26760" y="1404720"/>
            <a:ext cx="2783520" cy="317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554800" y="526320"/>
            <a:ext cx="2728800" cy="408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979520" y="2028600"/>
            <a:ext cx="357048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979520" y="2568240"/>
            <a:ext cx="2783520" cy="21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90;p18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933440" y="1879920"/>
            <a:ext cx="2508480" cy="78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title"/>
          </p:nvPr>
        </p:nvSpPr>
        <p:spPr>
          <a:xfrm>
            <a:off x="4933440" y="1508400"/>
            <a:ext cx="2508480" cy="4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4933440" y="3595320"/>
            <a:ext cx="2508480" cy="78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title"/>
          </p:nvPr>
        </p:nvSpPr>
        <p:spPr>
          <a:xfrm>
            <a:off x="4933440" y="3223800"/>
            <a:ext cx="2508480" cy="4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8680" cy="19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72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8680" cy="129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bg>
      <p:bgPr>
        <a:gradFill rotWithShape="0">
          <a:gsLst>
            <a:gs pos="0">
              <a:srgbClr val="8be3ff"/>
            </a:gs>
            <a:gs pos="100000">
              <a:srgbClr val="acffd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72040" y="614880"/>
            <a:ext cx="272736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572040" y="2055240"/>
            <a:ext cx="272736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title"/>
          </p:nvPr>
        </p:nvSpPr>
        <p:spPr>
          <a:xfrm>
            <a:off x="572040" y="3495240"/>
            <a:ext cx="272736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title"/>
          </p:nvPr>
        </p:nvSpPr>
        <p:spPr>
          <a:xfrm>
            <a:off x="3377160" y="73980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title"/>
          </p:nvPr>
        </p:nvSpPr>
        <p:spPr>
          <a:xfrm>
            <a:off x="3377160" y="217656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title"/>
          </p:nvPr>
        </p:nvSpPr>
        <p:spPr>
          <a:xfrm>
            <a:off x="3377160" y="361368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7"/>
          <p:cNvSpPr>
            <a:spLocks noGrp="1"/>
          </p:cNvSpPr>
          <p:nvPr>
            <p:ph type="title"/>
          </p:nvPr>
        </p:nvSpPr>
        <p:spPr>
          <a:xfrm>
            <a:off x="4574520" y="73980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8"/>
          <p:cNvSpPr>
            <a:spLocks noGrp="1"/>
          </p:cNvSpPr>
          <p:nvPr>
            <p:ph type="title"/>
          </p:nvPr>
        </p:nvSpPr>
        <p:spPr>
          <a:xfrm>
            <a:off x="4574520" y="217656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9"/>
          <p:cNvSpPr>
            <a:spLocks noGrp="1"/>
          </p:cNvSpPr>
          <p:nvPr>
            <p:ph type="title"/>
          </p:nvPr>
        </p:nvSpPr>
        <p:spPr>
          <a:xfrm>
            <a:off x="4574520" y="361368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xx%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0"/>
          <p:cNvSpPr>
            <a:spLocks noGrp="1"/>
          </p:cNvSpPr>
          <p:nvPr>
            <p:ph type="title"/>
          </p:nvPr>
        </p:nvSpPr>
        <p:spPr>
          <a:xfrm>
            <a:off x="5842800" y="614880"/>
            <a:ext cx="272736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1"/>
          <p:cNvSpPr>
            <a:spLocks noGrp="1"/>
          </p:cNvSpPr>
          <p:nvPr>
            <p:ph type="title"/>
          </p:nvPr>
        </p:nvSpPr>
        <p:spPr>
          <a:xfrm>
            <a:off x="5842800" y="2055240"/>
            <a:ext cx="272736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2"/>
          <p:cNvSpPr>
            <a:spLocks noGrp="1"/>
          </p:cNvSpPr>
          <p:nvPr>
            <p:ph type="title"/>
          </p:nvPr>
        </p:nvSpPr>
        <p:spPr>
          <a:xfrm>
            <a:off x="5842800" y="3495240"/>
            <a:ext cx="272736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65;p14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267880" y="2040480"/>
            <a:ext cx="2783520" cy="178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69;p15"/>
          <p:cNvCxnSpPr/>
          <p:nvPr/>
        </p:nvCxnSpPr>
        <p:spPr>
          <a:xfrm>
            <a:off x="242280" y="607680"/>
            <a:ext cx="8990280" cy="1800"/>
          </a:xfrm>
          <a:prstGeom prst="straightConnector1">
            <a:avLst/>
          </a:prstGeom>
          <a:ln w="19050">
            <a:solidFill>
              <a:srgbClr val="acffd9"/>
            </a:solidFill>
            <a:round/>
            <a:headEnd len="med" type="oval" w="med"/>
          </a:ln>
        </p:spPr>
      </p:cxn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608220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953680" y="3447360"/>
            <a:ext cx="2428560" cy="11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title"/>
          </p:nvPr>
        </p:nvSpPr>
        <p:spPr>
          <a:xfrm>
            <a:off x="5953680" y="2949840"/>
            <a:ext cx="24285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58;p29"/>
          <p:cNvSpPr/>
          <p:nvPr/>
        </p:nvSpPr>
        <p:spPr>
          <a:xfrm rot="14090400">
            <a:off x="5455440" y="208800"/>
            <a:ext cx="5177520" cy="5730840"/>
          </a:xfrm>
          <a:custGeom>
            <a:avLst/>
            <a:gdLst>
              <a:gd name="textAreaLeft" fmla="*/ 0 w 5177520"/>
              <a:gd name="textAreaRight" fmla="*/ 5179320 w 5177520"/>
              <a:gd name="textAreaTop" fmla="*/ 0 h 5730840"/>
              <a:gd name="textAreaBottom" fmla="*/ 5732640 h 5730840"/>
            </a:gdLst>
            <a:ahLst/>
            <a:cxnLst/>
            <a:rect l="textAreaLeft" t="textAreaTop" r="textAreaRight" b="textAreaBottom"/>
            <a:pathLst>
              <a:path w="26397" h="32076">
                <a:moveTo>
                  <a:pt x="11422" y="1"/>
                </a:moveTo>
                <a:cubicBezTo>
                  <a:pt x="10866" y="1"/>
                  <a:pt x="10274" y="46"/>
                  <a:pt x="9640" y="141"/>
                </a:cubicBezTo>
                <a:cubicBezTo>
                  <a:pt x="5702" y="732"/>
                  <a:pt x="2430" y="3940"/>
                  <a:pt x="1216" y="7734"/>
                </a:cubicBezTo>
                <a:cubicBezTo>
                  <a:pt x="0" y="11528"/>
                  <a:pt x="664" y="15761"/>
                  <a:pt x="2459" y="19317"/>
                </a:cubicBezTo>
                <a:cubicBezTo>
                  <a:pt x="4253" y="22873"/>
                  <a:pt x="7097" y="25808"/>
                  <a:pt x="10241" y="28254"/>
                </a:cubicBezTo>
                <a:cubicBezTo>
                  <a:pt x="12805" y="30251"/>
                  <a:pt x="15774" y="32014"/>
                  <a:pt x="19022" y="32074"/>
                </a:cubicBezTo>
                <a:cubicBezTo>
                  <a:pt x="19066" y="32075"/>
                  <a:pt x="19109" y="32076"/>
                  <a:pt x="19153" y="32076"/>
                </a:cubicBezTo>
                <a:cubicBezTo>
                  <a:pt x="22363" y="32076"/>
                  <a:pt x="25746" y="29895"/>
                  <a:pt x="26096" y="26708"/>
                </a:cubicBezTo>
                <a:cubicBezTo>
                  <a:pt x="26397" y="23957"/>
                  <a:pt x="24516" y="21520"/>
                  <a:pt x="23100" y="19145"/>
                </a:cubicBezTo>
                <a:cubicBezTo>
                  <a:pt x="19506" y="13117"/>
                  <a:pt x="20856" y="1"/>
                  <a:pt x="11422" y="1"/>
                </a:cubicBezTo>
                <a:close/>
              </a:path>
            </a:pathLst>
          </a:custGeom>
          <a:gradFill rotWithShape="0">
            <a:gsLst>
              <a:gs pos="0">
                <a:srgbClr val="8be3ff"/>
              </a:gs>
              <a:gs pos="100000">
                <a:srgbClr val="acffd9"/>
              </a:gs>
            </a:gsLst>
            <a:lin ang="19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914840" y="180000"/>
            <a:ext cx="4204080" cy="291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800" b="0" u="none" strike="noStrike">
                <a:solidFill>
                  <a:srgbClr val="000000"/>
                </a:solidFill>
                <a:effectLst/>
                <a:uFillTx/>
                <a:latin typeface="Viga"/>
                <a:ea typeface="Viga"/>
              </a:rPr>
              <a:t>Cyber-Securité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327680" y="3509640"/>
            <a:ext cx="65912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Segoe UI"/>
              </a:rPr>
              <a:t>Menaces, Bonnes Pratiques &amp; Techniques Avancées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377160" y="73980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01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Google Shape;304;p31"/>
          <p:cNvCxnSpPr/>
          <p:nvPr/>
        </p:nvCxnSpPr>
        <p:spPr>
          <a:xfrm>
            <a:off x="4572000" y="465840"/>
            <a:ext cx="1800" cy="421344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3377160" y="217656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02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title"/>
          </p:nvPr>
        </p:nvSpPr>
        <p:spPr>
          <a:xfrm>
            <a:off x="3377160" y="361368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title"/>
          </p:nvPr>
        </p:nvSpPr>
        <p:spPr>
          <a:xfrm>
            <a:off x="4574520" y="73980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04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title"/>
          </p:nvPr>
        </p:nvSpPr>
        <p:spPr>
          <a:xfrm>
            <a:off x="4574520" y="217656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05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title"/>
          </p:nvPr>
        </p:nvSpPr>
        <p:spPr>
          <a:xfrm>
            <a:off x="4574520" y="3613680"/>
            <a:ext cx="119052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06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" name="Google Shape;322;p31"/>
          <p:cNvCxnSpPr/>
          <p:nvPr/>
        </p:nvCxnSpPr>
        <p:spPr>
          <a:xfrm>
            <a:off x="902160" y="1856880"/>
            <a:ext cx="734112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cxnSp>
        <p:nvCxnSpPr>
          <p:cNvPr id="127" name="Google Shape;323;p31"/>
          <p:cNvCxnSpPr/>
          <p:nvPr/>
        </p:nvCxnSpPr>
        <p:spPr>
          <a:xfrm>
            <a:off x="902160" y="3295440"/>
            <a:ext cx="7341120" cy="18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sp>
        <p:nvSpPr>
          <p:cNvPr id="128" name=""/>
          <p:cNvSpPr/>
          <p:nvPr/>
        </p:nvSpPr>
        <p:spPr>
          <a:xfrm>
            <a:off x="720000" y="889560"/>
            <a:ext cx="26989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Introduction aux menaces et vulnérabilités Cloud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720000" y="2340000"/>
            <a:ext cx="26989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Règles de bases et bonnes pratiques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65000" y="3735720"/>
            <a:ext cx="26989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Référentiels et recommandations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760000" y="889920"/>
            <a:ext cx="2698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AWS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761080" y="2340000"/>
            <a:ext cx="2698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Lynis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790600" y="3856320"/>
            <a:ext cx="2698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Ansible / Terraform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7"/>
          <p:cNvSpPr/>
          <p:nvPr/>
        </p:nvSpPr>
        <p:spPr>
          <a:xfrm>
            <a:off x="3308400" y="2160000"/>
            <a:ext cx="119052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01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960000" y="2310120"/>
            <a:ext cx="2879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Viga"/>
                <a:ea typeface="Arial"/>
              </a:rPr>
              <a:t>Introduction aux menaces et vulnérabilités Cloud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01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Attaques API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330;p 1"/>
          <p:cNvSpPr/>
          <p:nvPr/>
        </p:nvSpPr>
        <p:spPr>
          <a:xfrm>
            <a:off x="3650760" y="2633400"/>
            <a:ext cx="10800" cy="34200"/>
          </a:xfrm>
          <a:custGeom>
            <a:avLst/>
            <a:gdLst>
              <a:gd name="textAreaLeft" fmla="*/ 0 w 10800"/>
              <a:gd name="textAreaRight" fmla="*/ 12600 w 10800"/>
              <a:gd name="textAreaTop" fmla="*/ 0 h 34200"/>
              <a:gd name="textAreaBottom" fmla="*/ 36000 h 34200"/>
            </a:gdLst>
            <a:ahLst/>
            <a:cxnLst/>
            <a:rect l="textAreaLeft" t="textAreaTop" r="textAreaRight" b="textAreaBottom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ctr">
            <a:noAutofit/>
          </a:bodyPr>
          <a:p>
            <a:pPr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304920" y="2095560"/>
            <a:ext cx="52837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Types d'attaques courantes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304920" y="2552760"/>
            <a:ext cx="518004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Injection de commandes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Authentification brisée</a:t>
            </a: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 - Vol de tokens, clés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Exposition excessive de données</a:t>
            </a: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 - Réponses non filtrées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Absence de rate limiting</a:t>
            </a: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 - DoS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Mauvaises autorisations</a:t>
            </a: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 - élévation de privilèges, trop permissif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6"/>
          <p:cNvSpPr/>
          <p:nvPr/>
        </p:nvSpPr>
        <p:spPr>
          <a:xfrm>
            <a:off x="5412240" y="1800000"/>
            <a:ext cx="3046680" cy="2551320"/>
          </a:xfrm>
          <a:prstGeom prst="roundRect">
            <a:avLst>
              <a:gd name="adj" fmla="val 2388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 27"/>
          <p:cNvSpPr/>
          <p:nvPr/>
        </p:nvSpPr>
        <p:spPr>
          <a:xfrm>
            <a:off x="6019920" y="2019240"/>
            <a:ext cx="1061640" cy="455760"/>
          </a:xfrm>
          <a:prstGeom prst="roundRect">
            <a:avLst>
              <a:gd name="adj" fmla="val 333000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28"/>
          <p:cNvSpPr/>
          <p:nvPr/>
        </p:nvSpPr>
        <p:spPr>
          <a:xfrm>
            <a:off x="6095880" y="2114640"/>
            <a:ext cx="927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Prévention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9"/>
          <p:cNvSpPr/>
          <p:nvPr/>
        </p:nvSpPr>
        <p:spPr>
          <a:xfrm>
            <a:off x="6019920" y="2629080"/>
            <a:ext cx="258948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✓ MFA obligatoire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✓ Validation des entrées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✓ API Gateway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✓ Monitoring actif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✓ Rotation des clés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01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Ransomware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655560" y="1581480"/>
            <a:ext cx="52837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Vecteurs d'infection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79240" y="2038680"/>
            <a:ext cx="518004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noAutofit/>
          </a:bodyPr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Compromission de comptes admin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Identifiants volés (phishing)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Vulnérabilités applicatives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540000" y="3115800"/>
            <a:ext cx="52837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Bef>
                <a:spcPts val="1199"/>
              </a:spcBef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Cibles privilégiées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540000" y="3600000"/>
            <a:ext cx="518004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noAutofit/>
          </a:bodyPr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Stockage objet (S3, Azure Blob)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Bases de données managées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Machines virtuelles et snapshots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5220000" y="1240920"/>
            <a:ext cx="3046680" cy="361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6019920" y="1486440"/>
            <a:ext cx="1008720" cy="455760"/>
          </a:xfrm>
          <a:prstGeom prst="roundRect">
            <a:avLst>
              <a:gd name="adj" fmla="val 333000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6095880" y="1581480"/>
            <a:ext cx="873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Protection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6019920" y="2134080"/>
            <a:ext cx="2641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Prévention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6019920" y="2438640"/>
            <a:ext cx="258948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Segmentation réseau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Moindre privilège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MFA obligatoire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6019920" y="3467520"/>
            <a:ext cx="2641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199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Résilience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6019920" y="3772440"/>
            <a:ext cx="258948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Sauvegardes immuables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Snapshots isolés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Versioning activé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01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Erreurs de configuration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540000" y="1675800"/>
            <a:ext cx="41958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Erreurs critiques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9"/>
          <p:cNvSpPr/>
          <p:nvPr/>
        </p:nvSpPr>
        <p:spPr>
          <a:xfrm>
            <a:off x="540000" y="2000160"/>
            <a:ext cx="411336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noAutofit/>
          </a:bodyPr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Stockage public non intentionnel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Permissions IAM trop larges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Absence de chiffrement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Groupes de sécurité ouverts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Journalisation insuffisante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0"/>
          <p:cNvSpPr/>
          <p:nvPr/>
        </p:nvSpPr>
        <p:spPr>
          <a:xfrm>
            <a:off x="4724280" y="1695600"/>
            <a:ext cx="41958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Solutions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1"/>
          <p:cNvSpPr/>
          <p:nvPr/>
        </p:nvSpPr>
        <p:spPr>
          <a:xfrm>
            <a:off x="4724280" y="2000160"/>
            <a:ext cx="411336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rIns="0" tIns="0" bIns="0" anchor="t">
            <a:noAutofit/>
          </a:bodyPr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Infrastructure as Code validé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Audits réguliers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Templates sécurisés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indent="-8568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Formation continue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304920" y="3790800"/>
            <a:ext cx="8533080" cy="64620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23"/>
          <p:cNvSpPr/>
          <p:nvPr/>
        </p:nvSpPr>
        <p:spPr>
          <a:xfrm>
            <a:off x="374760" y="3981600"/>
            <a:ext cx="83926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70% des incidents Cloud</a:t>
            </a:r>
            <a:r>
              <a:rPr lang="en-US" sz="1500" b="0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 sont dus aux erreurs de configuration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8"/>
          <p:cNvSpPr/>
          <p:nvPr/>
        </p:nvSpPr>
        <p:spPr>
          <a:xfrm>
            <a:off x="3308400" y="2160000"/>
            <a:ext cx="119052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02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960000" y="2329560"/>
            <a:ext cx="2698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Viga"/>
                <a:ea typeface="Arial"/>
              </a:rPr>
              <a:t>Règles de bases et bonnes pratiques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02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Modèle Zero Trust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304920" y="1219320"/>
            <a:ext cx="8533080" cy="1217880"/>
          </a:xfrm>
          <a:prstGeom prst="roundRect">
            <a:avLst>
              <a:gd name="adj" fmla="val 5000"/>
            </a:avLst>
          </a:prstGeom>
          <a:solidFill>
            <a:schemeClr val="folHlink">
              <a:lumOff val="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452520" y="1486080"/>
            <a:ext cx="823716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225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"Never trust, always verify"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452520" y="1905120"/>
            <a:ext cx="8237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spcBef>
                <a:spcPts val="601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Ne jamais faire confiance, toujours vérifier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304920" y="2862000"/>
            <a:ext cx="2640240" cy="163692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540000" y="3181680"/>
            <a:ext cx="2226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6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Vérification explicite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0"/>
          <p:cNvSpPr/>
          <p:nvPr/>
        </p:nvSpPr>
        <p:spPr>
          <a:xfrm>
            <a:off x="533520" y="3683160"/>
            <a:ext cx="2226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737373"/>
                </a:solidFill>
                <a:effectLst/>
                <a:uFillTx/>
                <a:latin typeface="Calibri"/>
                <a:ea typeface="Arial"/>
              </a:rPr>
              <a:t>Authentification partout tous le temps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1"/>
          <p:cNvSpPr/>
          <p:nvPr/>
        </p:nvSpPr>
        <p:spPr>
          <a:xfrm>
            <a:off x="3251160" y="2876760"/>
            <a:ext cx="2640240" cy="163692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33"/>
          <p:cNvSpPr/>
          <p:nvPr/>
        </p:nvSpPr>
        <p:spPr>
          <a:xfrm>
            <a:off x="3479760" y="3240000"/>
            <a:ext cx="22266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6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Moindre privilège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4"/>
          <p:cNvSpPr/>
          <p:nvPr/>
        </p:nvSpPr>
        <p:spPr>
          <a:xfrm>
            <a:off x="3479760" y="3714480"/>
            <a:ext cx="2226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737373"/>
                </a:solidFill>
                <a:effectLst/>
                <a:uFillTx/>
                <a:latin typeface="Calibri"/>
                <a:ea typeface="Arial"/>
              </a:rPr>
              <a:t>Accès juste suffisant, limités dans le temps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5"/>
          <p:cNvSpPr/>
          <p:nvPr/>
        </p:nvSpPr>
        <p:spPr>
          <a:xfrm>
            <a:off x="6197400" y="2880000"/>
            <a:ext cx="2640240" cy="161892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37"/>
          <p:cNvSpPr/>
          <p:nvPr/>
        </p:nvSpPr>
        <p:spPr>
          <a:xfrm>
            <a:off x="6426000" y="3240000"/>
            <a:ext cx="2226600" cy="5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6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Assumer la compromission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8"/>
          <p:cNvSpPr/>
          <p:nvPr/>
        </p:nvSpPr>
        <p:spPr>
          <a:xfrm>
            <a:off x="6426000" y="3718800"/>
            <a:ext cx="22266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737373"/>
                </a:solidFill>
                <a:effectLst/>
                <a:uFillTx/>
                <a:latin typeface="Calibri"/>
                <a:ea typeface="Arial"/>
              </a:rPr>
              <a:t>Segmentation et surveillance continues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02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Modèle de responsabilité partagée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2"/>
          <p:cNvSpPr/>
          <p:nvPr/>
        </p:nvSpPr>
        <p:spPr>
          <a:xfrm>
            <a:off x="305280" y="1410120"/>
            <a:ext cx="4113360" cy="2284560"/>
          </a:xfrm>
          <a:prstGeom prst="roundRect">
            <a:avLst>
              <a:gd name="adj" fmla="val 2667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 36"/>
          <p:cNvSpPr/>
          <p:nvPr/>
        </p:nvSpPr>
        <p:spPr>
          <a:xfrm>
            <a:off x="533880" y="163872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Arial"/>
              </a:rPr>
              <a:t>Fournisseur Cloud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9"/>
          <p:cNvSpPr/>
          <p:nvPr/>
        </p:nvSpPr>
        <p:spPr>
          <a:xfrm>
            <a:off x="533880" y="1981440"/>
            <a:ext cx="3729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500" b="1" u="sng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Sécurité DU Cloud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0"/>
          <p:cNvSpPr/>
          <p:nvPr/>
        </p:nvSpPr>
        <p:spPr>
          <a:xfrm>
            <a:off x="533880" y="2286360"/>
            <a:ext cx="365616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7632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Infrastructure physique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Hyperviseur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Services managés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Datacenters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1"/>
          <p:cNvSpPr/>
          <p:nvPr/>
        </p:nvSpPr>
        <p:spPr>
          <a:xfrm>
            <a:off x="4724640" y="1410120"/>
            <a:ext cx="4113360" cy="228456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 42"/>
          <p:cNvSpPr/>
          <p:nvPr/>
        </p:nvSpPr>
        <p:spPr>
          <a:xfrm>
            <a:off x="4953240" y="163872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Client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3"/>
          <p:cNvSpPr/>
          <p:nvPr/>
        </p:nvSpPr>
        <p:spPr>
          <a:xfrm>
            <a:off x="4953240" y="1981440"/>
            <a:ext cx="3729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500" b="1" u="sng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Sécurité DANS le Cloud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4"/>
          <p:cNvSpPr/>
          <p:nvPr/>
        </p:nvSpPr>
        <p:spPr>
          <a:xfrm>
            <a:off x="4953240" y="2286360"/>
            <a:ext cx="365616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76320" defTabSz="914400">
              <a:lnSpc>
                <a:spcPts val="2100"/>
              </a:lnSpc>
              <a:buClr>
                <a:srgbClr val="171717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Données et applications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171717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Configuration des services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171717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Gestion IAM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171717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Chiffrement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02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Bonnes pratiques essentielles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304920" y="1257840"/>
            <a:ext cx="54781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Gestion des identités (IAM)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5"/>
          <p:cNvSpPr/>
          <p:nvPr/>
        </p:nvSpPr>
        <p:spPr>
          <a:xfrm>
            <a:off x="304920" y="1638720"/>
            <a:ext cx="537084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b">
            <a:noAutofit/>
          </a:bodyPr>
          <a:p>
            <a:pPr marL="76320" indent="-7632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Moindre privilège systématique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algn="just" defTabSz="914400">
              <a:lnSpc>
                <a:spcPts val="2100"/>
              </a:lnSpc>
              <a:spcBef>
                <a:spcPts val="340"/>
              </a:spcBef>
              <a:spcAft>
                <a:spcPts val="142"/>
              </a:spcAft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MFA obligatoire ( Multi-Factor Authentication 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Rotation des credentials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6"/>
          <p:cNvSpPr/>
          <p:nvPr/>
        </p:nvSpPr>
        <p:spPr>
          <a:xfrm>
            <a:off x="304920" y="2667240"/>
            <a:ext cx="54781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Protection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7"/>
          <p:cNvSpPr/>
          <p:nvPr/>
        </p:nvSpPr>
        <p:spPr>
          <a:xfrm>
            <a:off x="304920" y="3048480"/>
            <a:ext cx="537084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7632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Chiffrement complet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Sauvegarde 3-2-1 (3 copies, 2 supports differents, 1 copie hors site)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8"/>
          <p:cNvSpPr/>
          <p:nvPr/>
        </p:nvSpPr>
        <p:spPr>
          <a:xfrm>
            <a:off x="304920" y="3772440"/>
            <a:ext cx="54781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Sécurité réseau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9"/>
          <p:cNvSpPr/>
          <p:nvPr/>
        </p:nvSpPr>
        <p:spPr>
          <a:xfrm>
            <a:off x="304920" y="4153320"/>
            <a:ext cx="5370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7632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WAF ( sécuriser application web)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1d1d1d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Segmentation ( Diviser un réseau en sous-réseaux isolés pour limiter les mouvements latéraux en cas d'intrusion.)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0"/>
          <p:cNvSpPr/>
          <p:nvPr/>
        </p:nvSpPr>
        <p:spPr>
          <a:xfrm>
            <a:off x="5422680" y="1524600"/>
            <a:ext cx="2856240" cy="2551320"/>
          </a:xfrm>
          <a:prstGeom prst="roundRect">
            <a:avLst>
              <a:gd name="adj" fmla="val 2388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51"/>
          <p:cNvSpPr/>
          <p:nvPr/>
        </p:nvSpPr>
        <p:spPr>
          <a:xfrm>
            <a:off x="6210360" y="1791000"/>
            <a:ext cx="1167480" cy="455760"/>
          </a:xfrm>
          <a:prstGeom prst="roundRect">
            <a:avLst>
              <a:gd name="adj" fmla="val 33300000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52"/>
          <p:cNvSpPr/>
          <p:nvPr/>
        </p:nvSpPr>
        <p:spPr>
          <a:xfrm>
            <a:off x="6286680" y="1886400"/>
            <a:ext cx="10353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500" b="0" u="none" strike="noStrike">
                <a:solidFill>
                  <a:srgbClr val="fafafa"/>
                </a:solidFill>
                <a:effectLst/>
                <a:uFillTx/>
                <a:latin typeface="Arial"/>
                <a:ea typeface="Arial"/>
              </a:rPr>
              <a:t>DevSecOps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3"/>
          <p:cNvSpPr/>
          <p:nvPr/>
        </p:nvSpPr>
        <p:spPr>
          <a:xfrm>
            <a:off x="5676840" y="2294280"/>
            <a:ext cx="239904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defTabSz="914400">
              <a:lnSpc>
                <a:spcPts val="2100"/>
              </a:lnSpc>
            </a:pP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IaC sécurisé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Tests automatisés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Scan vulnérabilités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2100"/>
              </a:lnSpc>
              <a:buClr>
                <a:srgbClr val="737373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Logging centralisé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4"/>
          <p:cNvSpPr/>
          <p:nvPr/>
        </p:nvSpPr>
        <p:spPr>
          <a:xfrm>
            <a:off x="3308400" y="2160000"/>
            <a:ext cx="119052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40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3960000" y="2304000"/>
            <a:ext cx="2698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d1d1d"/>
                </a:solidFill>
                <a:effectLst/>
                <a:uFillTx/>
                <a:latin typeface="Viga"/>
                <a:ea typeface="Arial"/>
              </a:rPr>
              <a:t>Référéntiels et recommandations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Famille ISO 27000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4"/>
          <p:cNvSpPr/>
          <p:nvPr/>
        </p:nvSpPr>
        <p:spPr>
          <a:xfrm>
            <a:off x="304920" y="1352520"/>
            <a:ext cx="4113360" cy="1332000"/>
          </a:xfrm>
          <a:prstGeom prst="roundRect">
            <a:avLst>
              <a:gd name="adj" fmla="val 4571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 55"/>
          <p:cNvSpPr/>
          <p:nvPr/>
        </p:nvSpPr>
        <p:spPr>
          <a:xfrm>
            <a:off x="533520" y="158112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ISO 27001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6"/>
          <p:cNvSpPr/>
          <p:nvPr/>
        </p:nvSpPr>
        <p:spPr>
          <a:xfrm>
            <a:off x="533520" y="1962000"/>
            <a:ext cx="3729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Certification du SMSI (Système de Management de la Sécurité). Norme de référence mondiale. </a:t>
            </a:r>
            <a:r>
              <a:rPr lang="en-US" sz="1200" b="1" u="sng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Le QUOI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7"/>
          <p:cNvSpPr/>
          <p:nvPr/>
        </p:nvSpPr>
        <p:spPr>
          <a:xfrm>
            <a:off x="4724280" y="1352520"/>
            <a:ext cx="4113360" cy="1332000"/>
          </a:xfrm>
          <a:prstGeom prst="roundRect">
            <a:avLst>
              <a:gd name="adj" fmla="val 4571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58"/>
          <p:cNvSpPr/>
          <p:nvPr/>
        </p:nvSpPr>
        <p:spPr>
          <a:xfrm>
            <a:off x="4952880" y="158112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ISO 27002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9"/>
          <p:cNvSpPr/>
          <p:nvPr/>
        </p:nvSpPr>
        <p:spPr>
          <a:xfrm>
            <a:off x="4952880" y="1962000"/>
            <a:ext cx="3729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Catalogue de 93 contrôles de sécurité. Guide pratique d'implémentation. </a:t>
            </a:r>
            <a:r>
              <a:rPr lang="en-US" sz="1200" b="1" u="sng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Le COMMENT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0"/>
          <p:cNvSpPr/>
          <p:nvPr/>
        </p:nvSpPr>
        <p:spPr>
          <a:xfrm>
            <a:off x="304920" y="2838600"/>
            <a:ext cx="4113360" cy="1332000"/>
          </a:xfrm>
          <a:prstGeom prst="roundRect">
            <a:avLst>
              <a:gd name="adj" fmla="val 4571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61"/>
          <p:cNvSpPr/>
          <p:nvPr/>
        </p:nvSpPr>
        <p:spPr>
          <a:xfrm>
            <a:off x="533520" y="306720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ISO 27017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2"/>
          <p:cNvSpPr/>
          <p:nvPr/>
        </p:nvSpPr>
        <p:spPr>
          <a:xfrm>
            <a:off x="533520" y="3448080"/>
            <a:ext cx="3729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Sécurité du Cloud. Responsabilité partagée et virtualisation. Idem 27002 + orientation cloud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3"/>
          <p:cNvSpPr/>
          <p:nvPr/>
        </p:nvSpPr>
        <p:spPr>
          <a:xfrm>
            <a:off x="4724280" y="2838600"/>
            <a:ext cx="4113360" cy="1332000"/>
          </a:xfrm>
          <a:prstGeom prst="roundRect">
            <a:avLst>
              <a:gd name="adj" fmla="val 4571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 64"/>
          <p:cNvSpPr/>
          <p:nvPr/>
        </p:nvSpPr>
        <p:spPr>
          <a:xfrm>
            <a:off x="4952880" y="306720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ISO 27018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5"/>
          <p:cNvSpPr/>
          <p:nvPr/>
        </p:nvSpPr>
        <p:spPr>
          <a:xfrm>
            <a:off x="4952880" y="3448080"/>
            <a:ext cx="3729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Protection données personnelles Cloud. Aligné RGPD.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Famille ISO 27000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2792880" y="1800000"/>
            <a:ext cx="3506400" cy="2472480"/>
          </a:xfrm>
          <a:prstGeom prst="rect">
            <a:avLst/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Exemple concret : Microsoft Azure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Microsoft est certifié :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ISO 27001 (base)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ISO 27017 (en tant que fournisseur Cloud)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ISO 27018 (protection données personnelles)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Cela signifie qu'Azure :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A un SMSI conforme (27001)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Applique les bonnes pratiques Cloud (27017)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fr-F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Protège les données personnelles selon le RGPD (27018)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Référentiels sectoriels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6"/>
          <p:cNvSpPr/>
          <p:nvPr/>
        </p:nvSpPr>
        <p:spPr>
          <a:xfrm>
            <a:off x="304920" y="1866960"/>
            <a:ext cx="2640240" cy="178920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 67"/>
          <p:cNvSpPr/>
          <p:nvPr/>
        </p:nvSpPr>
        <p:spPr>
          <a:xfrm>
            <a:off x="533520" y="2095560"/>
            <a:ext cx="22266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SOC 2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8"/>
          <p:cNvSpPr/>
          <p:nvPr/>
        </p:nvSpPr>
        <p:spPr>
          <a:xfrm>
            <a:off x="533520" y="2476440"/>
            <a:ext cx="22266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(usa-mondial) Audit indépendant pour fournisseurs Cloud (SaaS). Couvre sécurité, disponibilité, confidentialité. Pas obligatoire mais exigé en B2B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9"/>
          <p:cNvSpPr/>
          <p:nvPr/>
        </p:nvSpPr>
        <p:spPr>
          <a:xfrm>
            <a:off x="3251160" y="1981080"/>
            <a:ext cx="2640240" cy="15606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 70"/>
          <p:cNvSpPr/>
          <p:nvPr/>
        </p:nvSpPr>
        <p:spPr>
          <a:xfrm>
            <a:off x="3479760" y="2209680"/>
            <a:ext cx="22266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PCI-DSS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1"/>
          <p:cNvSpPr/>
          <p:nvPr/>
        </p:nvSpPr>
        <p:spPr>
          <a:xfrm>
            <a:off x="3479760" y="2590920"/>
            <a:ext cx="2226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(international) Obligatoire pour traitement données bancaires. 12 exigences de sécurité strictes.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2"/>
          <p:cNvSpPr/>
          <p:nvPr/>
        </p:nvSpPr>
        <p:spPr>
          <a:xfrm>
            <a:off x="6197400" y="1981080"/>
            <a:ext cx="2640240" cy="15606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73"/>
          <p:cNvSpPr/>
          <p:nvPr/>
        </p:nvSpPr>
        <p:spPr>
          <a:xfrm>
            <a:off x="6426000" y="2209680"/>
            <a:ext cx="22266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HDS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74"/>
          <p:cNvSpPr/>
          <p:nvPr/>
        </p:nvSpPr>
        <p:spPr>
          <a:xfrm>
            <a:off x="6426000" y="2590920"/>
            <a:ext cx="2226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d1d1d"/>
                </a:solidFill>
                <a:effectLst/>
                <a:uFillTx/>
                <a:latin typeface="Calibri"/>
                <a:ea typeface="Arial"/>
              </a:rPr>
              <a:t>(france) Obligatoire si hébergement de données de Santé. Certification délivrée par ANSSI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RGPD &amp; conformité réglementaire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5"/>
          <p:cNvSpPr/>
          <p:nvPr/>
        </p:nvSpPr>
        <p:spPr>
          <a:xfrm>
            <a:off x="1980000" y="914400"/>
            <a:ext cx="5370840" cy="4124880"/>
          </a:xfrm>
          <a:prstGeom prst="roundRect">
            <a:avLst>
              <a:gd name="adj" fmla="val 2759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76"/>
          <p:cNvSpPr/>
          <p:nvPr/>
        </p:nvSpPr>
        <p:spPr>
          <a:xfrm>
            <a:off x="2547360" y="1080000"/>
            <a:ext cx="5011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Arial"/>
                <a:ea typeface="Arial"/>
              </a:rPr>
              <a:t>RGPD (GDPR) = Reglement européen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8"/>
          <p:cNvSpPr/>
          <p:nvPr/>
        </p:nvSpPr>
        <p:spPr>
          <a:xfrm>
            <a:off x="2340000" y="1440000"/>
            <a:ext cx="491364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600" rIns="0" tIns="0" bIns="0" anchor="t">
            <a:noAutofit/>
          </a:bodyPr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⚖️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RÈGLES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Sanctions 4% CA • En vigueur 2018 • 27 pays UE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🛡️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PROTECTION DÈS LA CONCEPTION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Privacy by Design - Sécurité intégrée, pas ajoutée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Privacy by Default - Paramètres protecteurs par défaut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👤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DROITS DES PERSONNES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Droit à l'oubli - "Supprimez mes données"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Droit de portabilité - "Donnez-moi mes données"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Droit d'accès - "Montrez-moi ce que vous avez"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🚨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EN CAS DE FUITE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Notification CNIL : 72 heures maximum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 indent="-66600" defTabSz="914400">
              <a:lnSpc>
                <a:spcPts val="2100"/>
              </a:lnSpc>
              <a:buClr>
                <a:srgbClr val="fafafa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+ Information personnes concernées si risque élevé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RGPD &amp; conformité réglementaire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0"/>
          <p:cNvSpPr/>
          <p:nvPr/>
        </p:nvSpPr>
        <p:spPr>
          <a:xfrm>
            <a:off x="208440" y="2087280"/>
            <a:ext cx="5370840" cy="13320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 91"/>
          <p:cNvSpPr/>
          <p:nvPr/>
        </p:nvSpPr>
        <p:spPr>
          <a:xfrm>
            <a:off x="360000" y="2215800"/>
            <a:ext cx="5011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FedRAMP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2"/>
          <p:cNvSpPr/>
          <p:nvPr/>
        </p:nvSpPr>
        <p:spPr>
          <a:xfrm>
            <a:off x="360000" y="2700000"/>
            <a:ext cx="50119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Programme fédéral USA pour services Cloud gouvernementaux. 3 niveaux d'impact (Low, Moderate, High).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3"/>
          <p:cNvSpPr/>
          <p:nvPr/>
        </p:nvSpPr>
        <p:spPr>
          <a:xfrm>
            <a:off x="5982120" y="1790640"/>
            <a:ext cx="2856240" cy="1941840"/>
          </a:xfrm>
          <a:prstGeom prst="roundRect">
            <a:avLst>
              <a:gd name="adj" fmla="val 3137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94"/>
          <p:cNvSpPr/>
          <p:nvPr/>
        </p:nvSpPr>
        <p:spPr>
          <a:xfrm>
            <a:off x="6210720" y="2019240"/>
            <a:ext cx="701640" cy="455760"/>
          </a:xfrm>
          <a:prstGeom prst="roundRect">
            <a:avLst>
              <a:gd name="adj" fmla="val 333000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 95"/>
          <p:cNvSpPr/>
          <p:nvPr/>
        </p:nvSpPr>
        <p:spPr>
          <a:xfrm>
            <a:off x="6287040" y="2114640"/>
            <a:ext cx="560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50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Autres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6"/>
          <p:cNvSpPr/>
          <p:nvPr/>
        </p:nvSpPr>
        <p:spPr>
          <a:xfrm>
            <a:off x="6210720" y="2629080"/>
            <a:ext cx="239904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HIPAA</a:t>
            </a: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- Santé USA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SOX</a:t>
            </a: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- Finance USA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NIS2</a:t>
            </a: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- Cybersécurité UE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Recommandations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"/>
          <p:cNvPicPr/>
          <p:nvPr/>
        </p:nvPicPr>
        <p:blipFill>
          <a:blip r:embed="rId1"/>
          <a:stretch/>
        </p:blipFill>
        <p:spPr>
          <a:xfrm>
            <a:off x="1260000" y="1010880"/>
            <a:ext cx="6755400" cy="384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Frameworks techniques et securité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3131640" y="1260000"/>
            <a:ext cx="29880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https://static.open-scap.org/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77"/>
          <p:cNvSpPr/>
          <p:nvPr/>
        </p:nvSpPr>
        <p:spPr>
          <a:xfrm>
            <a:off x="3299040" y="2218680"/>
            <a:ext cx="2640240" cy="15606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 79"/>
          <p:cNvSpPr/>
          <p:nvPr/>
        </p:nvSpPr>
        <p:spPr>
          <a:xfrm>
            <a:off x="3648600" y="2627280"/>
            <a:ext cx="22266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CIS Benchmarks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0"/>
          <p:cNvSpPr/>
          <p:nvPr/>
        </p:nvSpPr>
        <p:spPr>
          <a:xfrm>
            <a:off x="3648600" y="3008520"/>
            <a:ext cx="2226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Standards configuration sécurisée 2 niveaux.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600000" y="1737360"/>
            <a:ext cx="86504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ANSSI LINUX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Frameworks menaces &amp; vulnérabilités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81"/>
          <p:cNvSpPr/>
          <p:nvPr/>
        </p:nvSpPr>
        <p:spPr>
          <a:xfrm>
            <a:off x="305280" y="1620000"/>
            <a:ext cx="4113360" cy="1598760"/>
          </a:xfrm>
          <a:prstGeom prst="roundRect">
            <a:avLst>
              <a:gd name="adj" fmla="val 3810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 82"/>
          <p:cNvSpPr/>
          <p:nvPr/>
        </p:nvSpPr>
        <p:spPr>
          <a:xfrm>
            <a:off x="533880" y="184860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MITRE ATT&amp;CK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83"/>
          <p:cNvSpPr/>
          <p:nvPr/>
        </p:nvSpPr>
        <p:spPr>
          <a:xfrm>
            <a:off x="533880" y="2229480"/>
            <a:ext cx="3729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Base de connaissances des tactiques et techniques d'attaquants (14 tactiques, 200+ techniques) pour comprendre et détecter les cyberattaques.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5"/>
          <p:cNvSpPr/>
          <p:nvPr/>
        </p:nvSpPr>
        <p:spPr>
          <a:xfrm>
            <a:off x="4724640" y="1620000"/>
            <a:ext cx="4113360" cy="15987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 86"/>
          <p:cNvSpPr/>
          <p:nvPr/>
        </p:nvSpPr>
        <p:spPr>
          <a:xfrm>
            <a:off x="4953240" y="1848600"/>
            <a:ext cx="3729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OWASP Cloud Top 10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87"/>
          <p:cNvSpPr/>
          <p:nvPr/>
        </p:nvSpPr>
        <p:spPr>
          <a:xfrm>
            <a:off x="4953240" y="2229480"/>
            <a:ext cx="3729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Organisation qui publie les Top 10 des vulnérabilités critiques (web apps, API, cloud-native) pour aider les développeurs à coder de manière sécurisée.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Comment choisir ?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5"/>
          <p:cNvSpPr/>
          <p:nvPr/>
        </p:nvSpPr>
        <p:spPr>
          <a:xfrm>
            <a:off x="304920" y="1562400"/>
            <a:ext cx="2640240" cy="1789200"/>
          </a:xfrm>
          <a:prstGeom prst="roundRect">
            <a:avLst>
              <a:gd name="adj" fmla="val 3404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 106"/>
          <p:cNvSpPr/>
          <p:nvPr/>
        </p:nvSpPr>
        <p:spPr>
          <a:xfrm>
            <a:off x="304920" y="1562400"/>
            <a:ext cx="26928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2100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500" b="1" i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Par secteur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7"/>
          <p:cNvSpPr/>
          <p:nvPr/>
        </p:nvSpPr>
        <p:spPr>
          <a:xfrm>
            <a:off x="304920" y="1905480"/>
            <a:ext cx="264024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60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Finance</a:t>
            </a: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 : PCI-DSS, SOX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Santé</a:t>
            </a: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 : HDS, HIPAA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SaaS</a:t>
            </a: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 : SOC 2, ISO 27001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Gouvernement</a:t>
            </a:r>
            <a:r>
              <a:rPr lang="en-US" sz="135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 : FedRAMP, SecNumCloud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8"/>
          <p:cNvSpPr/>
          <p:nvPr/>
        </p:nvSpPr>
        <p:spPr>
          <a:xfrm>
            <a:off x="3251160" y="1562400"/>
            <a:ext cx="2640240" cy="1789200"/>
          </a:xfrm>
          <a:prstGeom prst="roundRect">
            <a:avLst>
              <a:gd name="adj" fmla="val 3404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109"/>
          <p:cNvSpPr/>
          <p:nvPr/>
        </p:nvSpPr>
        <p:spPr>
          <a:xfrm>
            <a:off x="3251160" y="1562400"/>
            <a:ext cx="26928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2100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5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Par géographie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0"/>
          <p:cNvSpPr/>
          <p:nvPr/>
        </p:nvSpPr>
        <p:spPr>
          <a:xfrm>
            <a:off x="3251160" y="1905480"/>
            <a:ext cx="264024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60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France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ANSSI, SecNumCloud, HDS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Europe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RGPD, ENISA, NIS2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USA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NIST, FedRAMP, CISA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International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ISO 27001/17/18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1"/>
          <p:cNvSpPr/>
          <p:nvPr/>
        </p:nvSpPr>
        <p:spPr>
          <a:xfrm>
            <a:off x="6120000" y="1554120"/>
            <a:ext cx="2640240" cy="1865160"/>
          </a:xfrm>
          <a:prstGeom prst="roundRect">
            <a:avLst>
              <a:gd name="adj" fmla="val 2963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112"/>
          <p:cNvSpPr/>
          <p:nvPr/>
        </p:nvSpPr>
        <p:spPr>
          <a:xfrm>
            <a:off x="6197400" y="1620000"/>
            <a:ext cx="26928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2100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5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Par besoin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13"/>
          <p:cNvSpPr/>
          <p:nvPr/>
        </p:nvSpPr>
        <p:spPr>
          <a:xfrm>
            <a:off x="6179040" y="1924920"/>
            <a:ext cx="2640240" cy="17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60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Certification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ISO 27001, SOC 2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Configuration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CIS Benchmarks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Menaces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MITRE, OWASP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Conformité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: RGPD, PCI-DSS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14"/>
          <p:cNvSpPr/>
          <p:nvPr/>
        </p:nvSpPr>
        <p:spPr>
          <a:xfrm>
            <a:off x="304920" y="3638880"/>
            <a:ext cx="8533080" cy="608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 115"/>
          <p:cNvSpPr/>
          <p:nvPr/>
        </p:nvSpPr>
        <p:spPr>
          <a:xfrm>
            <a:off x="374760" y="3829320"/>
            <a:ext cx="8392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Approche combinée recommandée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: Base ISO 27001 + Référentiels sectoriels + Frameworks techniques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26760" y="338040"/>
            <a:ext cx="7472160" cy="5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lang="en" sz="2400" b="0" u="none" strike="noStrike">
                <a:solidFill>
                  <a:schemeClr val="lt2"/>
                </a:solidFill>
                <a:effectLst/>
                <a:uFillTx/>
                <a:latin typeface="Viga"/>
                <a:ea typeface="Viga"/>
              </a:rPr>
              <a:t>03 – </a:t>
            </a: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Viga"/>
                <a:ea typeface="Arial"/>
              </a:rPr>
              <a:t>Conclusion : les 3 piliers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84"/>
          <p:cNvSpPr/>
          <p:nvPr/>
        </p:nvSpPr>
        <p:spPr>
          <a:xfrm>
            <a:off x="305280" y="1505160"/>
            <a:ext cx="2640240" cy="16750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 88"/>
          <p:cNvSpPr/>
          <p:nvPr/>
        </p:nvSpPr>
        <p:spPr>
          <a:xfrm>
            <a:off x="511920" y="1733760"/>
            <a:ext cx="2226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lang="en-US" sz="22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89"/>
          <p:cNvSpPr/>
          <p:nvPr/>
        </p:nvSpPr>
        <p:spPr>
          <a:xfrm>
            <a:off x="511920" y="2115000"/>
            <a:ext cx="2226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spcBef>
                <a:spcPts val="300"/>
              </a:spcBef>
              <a:spcAft>
                <a:spcPts val="6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Connaissance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7"/>
          <p:cNvSpPr/>
          <p:nvPr/>
        </p:nvSpPr>
        <p:spPr>
          <a:xfrm>
            <a:off x="511920" y="2457720"/>
            <a:ext cx="2226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Comprendre les menaces spécifiques au Cloud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98"/>
          <p:cNvSpPr/>
          <p:nvPr/>
        </p:nvSpPr>
        <p:spPr>
          <a:xfrm>
            <a:off x="3251520" y="1505160"/>
            <a:ext cx="2640240" cy="1675080"/>
          </a:xfrm>
          <a:prstGeom prst="roundRect">
            <a:avLst>
              <a:gd name="adj" fmla="val 3636"/>
            </a:avLst>
          </a:prstGeom>
          <a:solidFill>
            <a:srgbClr val="0097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 99"/>
          <p:cNvSpPr/>
          <p:nvPr/>
        </p:nvSpPr>
        <p:spPr>
          <a:xfrm>
            <a:off x="3458160" y="1733760"/>
            <a:ext cx="2226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lang="en-US" sz="2250" b="1" u="none" strike="noStrike">
                <a:solidFill>
                  <a:srgbClr val="fafaf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00"/>
          <p:cNvSpPr/>
          <p:nvPr/>
        </p:nvSpPr>
        <p:spPr>
          <a:xfrm>
            <a:off x="3458160" y="2115000"/>
            <a:ext cx="2226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spcBef>
                <a:spcPts val="300"/>
              </a:spcBef>
              <a:spcAft>
                <a:spcPts val="6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Pratiques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01"/>
          <p:cNvSpPr/>
          <p:nvPr/>
        </p:nvSpPr>
        <p:spPr>
          <a:xfrm>
            <a:off x="3458160" y="2457720"/>
            <a:ext cx="2226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fafafa"/>
                </a:solidFill>
                <a:effectLst/>
                <a:uFillTx/>
                <a:latin typeface="Calibri"/>
                <a:ea typeface="Arial"/>
              </a:rPr>
              <a:t>Appliquer Zero Trust et responsabilité partagée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2"/>
          <p:cNvSpPr/>
          <p:nvPr/>
        </p:nvSpPr>
        <p:spPr>
          <a:xfrm>
            <a:off x="6197760" y="1505160"/>
            <a:ext cx="2640240" cy="16750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 103"/>
          <p:cNvSpPr/>
          <p:nvPr/>
        </p:nvSpPr>
        <p:spPr>
          <a:xfrm>
            <a:off x="6404760" y="1733760"/>
            <a:ext cx="2226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lang="en-US" sz="22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4"/>
          <p:cNvSpPr/>
          <p:nvPr/>
        </p:nvSpPr>
        <p:spPr>
          <a:xfrm>
            <a:off x="6404760" y="2115000"/>
            <a:ext cx="2226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spcBef>
                <a:spcPts val="300"/>
              </a:spcBef>
              <a:spcAft>
                <a:spcPts val="6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Référentiels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16"/>
          <p:cNvSpPr/>
          <p:nvPr/>
        </p:nvSpPr>
        <p:spPr>
          <a:xfrm>
            <a:off x="6404760" y="2457720"/>
            <a:ext cx="2226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71717"/>
                </a:solidFill>
                <a:effectLst/>
                <a:uFillTx/>
                <a:latin typeface="Calibri"/>
                <a:ea typeface="Arial"/>
              </a:rPr>
              <a:t>S'appuyer sur les standards reconnus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17"/>
          <p:cNvSpPr/>
          <p:nvPr/>
        </p:nvSpPr>
        <p:spPr>
          <a:xfrm>
            <a:off x="305280" y="3486600"/>
            <a:ext cx="8533080" cy="114156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 118"/>
          <p:cNvSpPr/>
          <p:nvPr/>
        </p:nvSpPr>
        <p:spPr>
          <a:xfrm>
            <a:off x="452880" y="3753360"/>
            <a:ext cx="82371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La sécurité Cloud est un processus continu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19"/>
          <p:cNvSpPr/>
          <p:nvPr/>
        </p:nvSpPr>
        <p:spPr>
          <a:xfrm>
            <a:off x="452880" y="4096080"/>
            <a:ext cx="8237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Prévention • Détection • Réaction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yber Security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1f1c51"/>
      </a:accent1>
      <a:accent2>
        <a:srgbClr val="acffd9"/>
      </a:accent2>
      <a:accent3>
        <a:srgbClr val="c6ff00"/>
      </a:accent3>
      <a:accent4>
        <a:srgbClr val="ffffff"/>
      </a:accent4>
      <a:accent5>
        <a:srgbClr val="a8c987"/>
      </a:accent5>
      <a:accent6>
        <a:srgbClr val="8be3ff"/>
      </a:accent6>
      <a:hlink>
        <a:srgbClr val="1f1c5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2026-01-25T21:35:55Z</dcterms:modified>
  <cp:revision>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